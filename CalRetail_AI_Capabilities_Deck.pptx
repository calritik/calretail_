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82AE8F"/>
                </a:solidFill>
              </a:defRPr>
            </a:pPr>
            <a:r>
              <a:t>CALRETAIL AI PLATFORM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Enterprise Retail AI Capabilities Deck</a:t>
            </a:r>
          </a:p>
          <a:p>
            <a:pPr>
              <a:defRPr sz="1800">
                <a:solidFill>
                  <a:srgbClr val="B7D4BE"/>
                </a:solidFill>
              </a:defRPr>
            </a:pPr>
            <a:r>
              <a:t>End-to-End Analysis of All 16 AI Capabilities: What, Why &amp; How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C8F6E"/>
                </a:solidFill>
              </a:defRPr>
            </a:pPr>
            <a:r>
              <a:t>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352B"/>
                </a:solidFill>
              </a:defRPr>
            </a:pPr>
            <a:r>
              <a:t>Production-Grade Two-Tier Retail AI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8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C8F6E"/>
                </a:solidFill>
              </a:defRPr>
            </a:pPr>
            <a:r>
              <a:t>🗄️ Data Layer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Database: </a:t>
            </a:r>
            <a:r>
              <a:rPr b="0" sz="1200">
                <a:solidFill>
                  <a:srgbClr val="5A7062"/>
                </a:solidFill>
              </a:rPr>
              <a:t>SQLite (data/calretail.db) single source of truth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Tables &amp; Indexes: </a:t>
            </a:r>
            <a:r>
              <a:rPr b="0" sz="1200">
                <a:solidFill>
                  <a:srgbClr val="5A7062"/>
                </a:solidFill>
              </a:rPr>
              <a:t>31 normalized tables with 38 indexes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Memory Downcast: </a:t>
            </a:r>
            <a:r>
              <a:rPr b="0" sz="1200">
                <a:solidFill>
                  <a:srgbClr val="5A7062"/>
                </a:solidFill>
              </a:rPr>
              <a:t>PyArrow string downcasting saves ~65% RAM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Connection Pool: </a:t>
            </a:r>
            <a:r>
              <a:rPr b="0" sz="1200">
                <a:solidFill>
                  <a:srgbClr val="5A7062"/>
                </a:solidFill>
              </a:rPr>
              <a:t>Read-only connection pool via backend/utils/db.py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A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60020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C8F6E"/>
                </a:solidFill>
              </a:defRPr>
            </a:pPr>
            <a:r>
              <a:t>⚙️ Compute Layer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API Engine: </a:t>
            </a:r>
            <a:r>
              <a:rPr b="0" sz="1200">
                <a:solidFill>
                  <a:srgbClr val="5A7062"/>
                </a:solidFill>
              </a:rPr>
              <a:t>FastAPI (Port 8000) with 35 REST OpenAPI endpoints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AI Modules: </a:t>
            </a:r>
            <a:r>
              <a:rPr b="0" sz="1200">
                <a:solidFill>
                  <a:srgbClr val="5A7062"/>
                </a:solidFill>
              </a:rPr>
              <a:t>16 native Python capability modules in backend/capabilities/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State Management: </a:t>
            </a:r>
            <a:r>
              <a:rPr b="0" sz="1200">
                <a:solidFill>
                  <a:srgbClr val="5A7062"/>
                </a:solidFill>
              </a:rPr>
              <a:t>Lazy initialization (_init()) on demand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Cache Control: </a:t>
            </a:r>
            <a:r>
              <a:rPr b="0" sz="1200">
                <a:solidFill>
                  <a:srgbClr val="5A7062"/>
                </a:solidFill>
              </a:rPr>
              <a:t>LRU bounded table cache (CALRETAIL_TABLE_CACHE=2)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7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60020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C8F6E"/>
                </a:solidFill>
              </a:defRPr>
            </a:pPr>
            <a:r>
              <a:t>🖥️ Presentation Layer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Dashboard: </a:t>
            </a:r>
            <a:r>
              <a:rPr b="0" sz="1200">
                <a:solidFill>
                  <a:srgbClr val="5A7062"/>
                </a:solidFill>
              </a:rPr>
              <a:t>Dash Web Console (Port 7860) with reactive layout callbacks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Design System: </a:t>
            </a:r>
            <a:r>
              <a:rPr b="0" sz="1200">
                <a:solidFill>
                  <a:srgbClr val="5A7062"/>
                </a:solidFill>
              </a:rPr>
              <a:t>Sage-green / warm off-white industrial theme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Resilience: </a:t>
            </a:r>
            <a:r>
              <a:rPr b="0" sz="1200">
                <a:solidFill>
                  <a:srgbClr val="5A7062"/>
                </a:solidFill>
              </a:rPr>
              <a:t>Watchdog auto-restart loop in start.sh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Deployment: </a:t>
            </a:r>
            <a:r>
              <a:rPr b="0" sz="1200">
                <a:solidFill>
                  <a:srgbClr val="5A7062"/>
                </a:solidFill>
              </a:rPr>
              <a:t>Dockerized container running live on AWS EC2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C8F6E"/>
                </a:solidFill>
              </a:defRPr>
            </a:pPr>
            <a:r>
              <a:t>DOMAIN 01: CUSTOMER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352B"/>
                </a:solidFill>
              </a:defRPr>
            </a:pPr>
            <a:r>
              <a:t>1. Hyper-Personalized Recommendations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8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C8F6E"/>
                </a:solidFill>
              </a:defRPr>
            </a:pPr>
            <a:r>
              <a:t>📌 Overview &amp; Business Value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WHAT (Core Concept): </a:t>
            </a:r>
            <a:r>
              <a:rPr b="0" sz="1200">
                <a:solidFill>
                  <a:srgbClr val="5A7062"/>
                </a:solidFill>
              </a:rPr>
              <a:t>User-User Collaborative Filtering cosine similarity matrix over purchases, carts, &amp; wishlists.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WHY (Business Value): </a:t>
            </a:r>
            <a:r>
              <a:rPr b="0" sz="1200">
                <a:solidFill>
                  <a:srgbClr val="5A7062"/>
                </a:solidFill>
              </a:rPr>
              <a:t>Drives cross-sell revenue, increases average order value (AOV), and resolves product discovery fatigue.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A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08760"/>
            <a:ext cx="4937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C8F6E"/>
                </a:solidFill>
              </a:defRPr>
            </a:pPr>
            <a:r>
              <a:t>⚙️ Algorithmic Implementation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HOW (Core Formula): </a:t>
            </a:r>
            <a:r>
              <a:rPr b="0" sz="1200">
                <a:solidFill>
                  <a:srgbClr val="5A7062"/>
                </a:solidFill>
              </a:rPr>
              <a:t>Signal = (3.0 * Purchases) + (2.0 * Cart) + (1.0 * Wishlist)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HOW (Pipeline / Math): </a:t>
            </a:r>
            <a:r>
              <a:rPr b="0" sz="1200">
                <a:solidFill>
                  <a:srgbClr val="5A7062"/>
                </a:solidFill>
              </a:rPr>
              <a:t>Similarity = CosineSimilarity(Signal_A, Signal_B)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Real-World Example: </a:t>
            </a:r>
            <a:r>
              <a:rPr b="0" sz="1200">
                <a:solidFill>
                  <a:srgbClr val="5A7062"/>
                </a:solidFill>
              </a:rPr>
              <a:t>Target user C00001 bought Denim Jacket (Signal 6.0). Similar user C00084 (Sim 0.85) bought Leather Bag (Signal 3.0). Recommended Leather Bag with Score 2.93 (#1 Rank).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C8F6E"/>
                </a:solidFill>
              </a:defRPr>
            </a:pPr>
            <a:r>
              <a:t>DOMAIN 01: CUSTOMER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352B"/>
                </a:solidFill>
              </a:defRPr>
            </a:pPr>
            <a:r>
              <a:t>2. Personalized Buying Assistants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8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C8F6E"/>
                </a:solidFill>
              </a:defRPr>
            </a:pPr>
            <a:r>
              <a:t>📌 Overview &amp; Business Value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WHAT (Core Concept): </a:t>
            </a:r>
            <a:r>
              <a:rPr b="0" sz="1200">
                <a:solidFill>
                  <a:srgbClr val="5A7062"/>
                </a:solidFill>
              </a:rPr>
              <a:t>Natural language intent parsing &amp; TF-IDF attribute retrieval matching customer budget &amp; specs.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WHY (Business Value): </a:t>
            </a:r>
            <a:r>
              <a:rPr b="0" sz="1200">
                <a:solidFill>
                  <a:srgbClr val="5A7062"/>
                </a:solidFill>
              </a:rPr>
              <a:t>Eliminates search friction, guides shoppers to exact items, and converts conversational queries into sales.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A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08760"/>
            <a:ext cx="4937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C8F6E"/>
                </a:solidFill>
              </a:defRPr>
            </a:pPr>
            <a:r>
              <a:t>⚙️ Algorithmic Implementation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HOW (Core Formula): </a:t>
            </a:r>
            <a:r>
              <a:rPr b="0" sz="1200">
                <a:solidFill>
                  <a:srgbClr val="5A7062"/>
                </a:solidFill>
              </a:rPr>
              <a:t>TF-IDF = (Keyword Count / Total Words) * Log(Total Products / Products with Keyword)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HOW (Pipeline / Math): </a:t>
            </a:r>
            <a:r>
              <a:rPr b="0" sz="1200">
                <a:solidFill>
                  <a:srgbClr val="5A7062"/>
                </a:solidFill>
              </a:rPr>
              <a:t>Relevance = CosineSimilarity(Query_TFIDF, Product_TFIDF) subject to Price &lt;= Budget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Real-World Example: </a:t>
            </a:r>
            <a:r>
              <a:rPr b="0" sz="1200">
                <a:solidFill>
                  <a:srgbClr val="5A7062"/>
                </a:solidFill>
              </a:rPr>
              <a:t>Query 'red jacket under 3000' extracts Max Price = ₹3,000, Color = Red. Matches SKU P00102 (₹2,499, TF-IDF 0.92). Assistant returns product recommendation.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C8F6E"/>
                </a:solidFill>
              </a:defRPr>
            </a:pPr>
            <a:r>
              <a:t>DOMAIN 01: CUSTOMER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352B"/>
                </a:solidFill>
              </a:defRPr>
            </a:pPr>
            <a:r>
              <a:t>3. Next-Best-Offer (NBO) Engines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8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C8F6E"/>
                </a:solidFill>
              </a:defRPr>
            </a:pPr>
            <a:r>
              <a:t>📌 Overview &amp; Business Value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WHAT (Core Concept): </a:t>
            </a:r>
            <a:r>
              <a:rPr b="0" sz="1200">
                <a:solidFill>
                  <a:srgbClr val="5A7062"/>
                </a:solidFill>
              </a:rPr>
              <a:t>RFM segmentation and uplift propensity modeling for targeted promotional discount selection.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WHY (Business Value): </a:t>
            </a:r>
            <a:r>
              <a:rPr b="0" sz="1200">
                <a:solidFill>
                  <a:srgbClr val="5A7062"/>
                </a:solidFill>
              </a:rPr>
              <a:t>Maximizes conversion probability while preventing unnecessary margin giveaway on price-insensitive shoppers.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A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08760"/>
            <a:ext cx="4937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C8F6E"/>
                </a:solidFill>
              </a:defRPr>
            </a:pPr>
            <a:r>
              <a:t>⚙️ Algorithmic Implementation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HOW (Core Formula): </a:t>
            </a:r>
            <a:r>
              <a:rPr b="0" sz="1200">
                <a:solidFill>
                  <a:srgbClr val="5A7062"/>
                </a:solidFill>
              </a:rPr>
              <a:t>Incremental Revenue = Basket_Value * Conversion_Uplift_% * (1.0 - Discount_%)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HOW (Pipeline / Math): </a:t>
            </a:r>
            <a:r>
              <a:rPr b="0" sz="1200">
                <a:solidFill>
                  <a:srgbClr val="5A7062"/>
                </a:solidFill>
              </a:rPr>
              <a:t>RFM Score = DaysSincePurchase + OrderFrequency + LifetimeSpend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Real-World Example: </a:t>
            </a:r>
            <a:r>
              <a:rPr b="0" sz="1200">
                <a:solidFill>
                  <a:srgbClr val="5A7062"/>
                </a:solidFill>
              </a:rPr>
              <a:t>Value Hunter customer segment: Option 1 (10% Off) yields +6% Uplift (₹120 Net Margin). Option 2 (25% Off) yields +16% Uplift (₹95 Net Margin). System selects Option 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C8F6E"/>
                </a:solidFill>
              </a:defRPr>
            </a:pPr>
            <a:r>
              <a:t>DOMAIN 01: CUSTOMER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352B"/>
                </a:solidFill>
              </a:defRPr>
            </a:pPr>
            <a:r>
              <a:t>4. Communication Timing Optimizer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8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C8F6E"/>
                </a:solidFill>
              </a:defRPr>
            </a:pPr>
            <a:r>
              <a:t>📌 Overview &amp; Business Value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WHAT (Core Concept): </a:t>
            </a:r>
            <a:r>
              <a:rPr b="0" sz="1200">
                <a:solidFill>
                  <a:srgbClr val="5A7062"/>
                </a:solidFill>
              </a:rPr>
              <a:t>Hourly Kernel Density Estimation (KDE) over historical session timestamps per customer.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WHY (Business Value): </a:t>
            </a:r>
            <a:r>
              <a:rPr b="0" sz="1200">
                <a:solidFill>
                  <a:srgbClr val="5A7062"/>
                </a:solidFill>
              </a:rPr>
              <a:t>Increases push/email open rates by sending messages during individual peak active attention hours.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A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08760"/>
            <a:ext cx="4937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C8F6E"/>
                </a:solidFill>
              </a:defRPr>
            </a:pPr>
            <a:r>
              <a:t>⚙️ Algorithmic Implementation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HOW (Core Formula): </a:t>
            </a:r>
            <a:r>
              <a:rPr b="0" sz="1200">
                <a:solidFill>
                  <a:srgbClr val="5A7062"/>
                </a:solidFill>
              </a:rPr>
              <a:t>Hourly Density = Average(Smooth Gaussian Curve over Session Timestamps)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HOW (Pipeline / Math): </a:t>
            </a:r>
            <a:r>
              <a:rPr b="0" sz="1200">
                <a:solidFill>
                  <a:srgbClr val="5A7062"/>
                </a:solidFill>
              </a:rPr>
              <a:t>Optimal Hour = Peak Hour Density Maximum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Real-World Example: </a:t>
            </a:r>
            <a:r>
              <a:rPr b="0" sz="1200">
                <a:solidFill>
                  <a:srgbClr val="5A7062"/>
                </a:solidFill>
              </a:rPr>
              <a:t>Shopper session log shows 15 visits concentrated between 7:00 PM and 9:00 PM. KDE identifies peak at 20:00 (8:00 PM). Sends notification Thursdays at 8:00 PM (34.2% predicted open rate).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C8F6E"/>
                </a:solidFill>
              </a:defRPr>
            </a:pPr>
            <a:r>
              <a:t>DOMAIN 02: MERCHANDISING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352B"/>
                </a:solidFill>
              </a:defRPr>
            </a:pPr>
            <a:r>
              <a:t>5. Demand Forecasting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8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C8F6E"/>
                </a:solidFill>
              </a:defRPr>
            </a:pPr>
            <a:r>
              <a:t>📌 Overview &amp; Business Value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WHAT (Core Concept): </a:t>
            </a:r>
            <a:r>
              <a:rPr b="0" sz="1200">
                <a:solidFill>
                  <a:srgbClr val="5A7062"/>
                </a:solidFill>
              </a:rPr>
              <a:t>Global XGBoost Regressor with 7d/14d/30d rolling lag features, moving averages, &amp; calendar flags.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WHY (Business Value): </a:t>
            </a:r>
            <a:r>
              <a:rPr b="0" sz="1200">
                <a:solidFill>
                  <a:srgbClr val="5A7062"/>
                </a:solidFill>
              </a:rPr>
              <a:t>Prevents stock-outs, optimizes supplier procurement orders, and lowers excess warehouse holding costs.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A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08760"/>
            <a:ext cx="4937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C8F6E"/>
                </a:solidFill>
              </a:defRPr>
            </a:pPr>
            <a:r>
              <a:t>⚙️ Algorithmic Implementation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HOW (Core Formula): </a:t>
            </a:r>
            <a:r>
              <a:rPr b="0" sz="1200">
                <a:solidFill>
                  <a:srgbClr val="5A7062"/>
                </a:solidFill>
              </a:rPr>
              <a:t>Predicted Sales(Day t) = XGBoost(Lag_7, Lag_14, MovingAverage_7d, DayOfWeek, IsHoliday)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HOW (Pipeline / Math): </a:t>
            </a:r>
            <a:r>
              <a:rPr b="0" sz="1200">
                <a:solidFill>
                  <a:srgbClr val="5A7062"/>
                </a:solidFill>
              </a:rPr>
              <a:t>Feature Scaling = Standardized Lag Features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Real-World Example: </a:t>
            </a:r>
            <a:r>
              <a:rPr b="0" sz="1200">
                <a:solidFill>
                  <a:srgbClr val="5A7062"/>
                </a:solidFill>
              </a:rPr>
              <a:t>Classic White Shirt (P00001): 7-day lag = 14 units, 7-day average = 12.5 units/day, Saturday multiplier = 1.2x. Forecasts Day 1 Demand = 16 units (30-day total = 485 units).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C8F6E"/>
                </a:solidFill>
              </a:defRPr>
            </a:pPr>
            <a:r>
              <a:t>DOMAIN 02: MERCHANDISING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352B"/>
                </a:solidFill>
              </a:defRPr>
            </a:pPr>
            <a:r>
              <a:t>6. Dynamic Pricing Engines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8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C8F6E"/>
                </a:solidFill>
              </a:defRPr>
            </a:pPr>
            <a:r>
              <a:t>📌 Overview &amp; Business Value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WHAT (Core Concept): </a:t>
            </a:r>
            <a:r>
              <a:rPr b="0" sz="1200">
                <a:solidFill>
                  <a:srgbClr val="5A7062"/>
                </a:solidFill>
              </a:rPr>
              <a:t>Log-Log Price Elasticity regression under margin floor constraints and competitor benchmarking.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WHY (Business Value): </a:t>
            </a:r>
            <a:r>
              <a:rPr b="0" sz="1200">
                <a:solidFill>
                  <a:srgbClr val="5A7062"/>
                </a:solidFill>
              </a:rPr>
              <a:t>Maximizes net gross profit by marking down overstocked SKUs and marking up high-demand low-stock items.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A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08760"/>
            <a:ext cx="4937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C8F6E"/>
                </a:solidFill>
              </a:defRPr>
            </a:pPr>
            <a:r>
              <a:t>⚙️ Algorithmic Implementation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HOW (Core Formula): </a:t>
            </a:r>
            <a:r>
              <a:rPr b="0" sz="1200">
                <a:solidFill>
                  <a:srgbClr val="5A7062"/>
                </a:solidFill>
              </a:rPr>
              <a:t>Elasticity = (% Change in Demand Quantity) / (% Change in Price)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HOW (Pipeline / Math): </a:t>
            </a:r>
            <a:r>
              <a:rPr b="0" sz="1200">
                <a:solidFill>
                  <a:srgbClr val="5A7062"/>
                </a:solidFill>
              </a:rPr>
              <a:t>Price Multiplier = 1.0 + Inventory_Factor + Stockout_Risk_Factor + Velocity_Factor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Real-World Example: </a:t>
            </a:r>
            <a:r>
              <a:rPr b="0" sz="1200">
                <a:solidFill>
                  <a:srgbClr val="5A7062"/>
                </a:solidFill>
              </a:rPr>
              <a:t>Product P00010 (Cost = ₹700, Competitor Avg = ₹1,150). Inventory ratio = 85% (High stock). Applies -5.6% markdown to ₹1,085 (+13.3% projected volume lift).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C8F6E"/>
                </a:solidFill>
              </a:defRPr>
            </a:pPr>
            <a:r>
              <a:t>DOMAIN 02: MERCHANDISING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352B"/>
                </a:solidFill>
              </a:defRPr>
            </a:pPr>
            <a:r>
              <a:t>7. Promotion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8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C8F6E"/>
                </a:solidFill>
              </a:defRPr>
            </a:pPr>
            <a:r>
              <a:t>📌 Overview &amp; Business Value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WHAT (Core Concept): </a:t>
            </a:r>
            <a:r>
              <a:rPr b="0" sz="1200">
                <a:solidFill>
                  <a:srgbClr val="5A7062"/>
                </a:solidFill>
              </a:rPr>
              <a:t>Non-linear discount uplift curves combined with cross-category product cannibalization penalties.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WHY (Business Value): </a:t>
            </a:r>
            <a:r>
              <a:rPr b="0" sz="1200">
                <a:solidFill>
                  <a:srgbClr val="5A7062"/>
                </a:solidFill>
              </a:rPr>
              <a:t>Ensures promotional campaigns generate true net margin gain rather than loss-making volume surges.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A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08760"/>
            <a:ext cx="4937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C8F6E"/>
                </a:solidFill>
              </a:defRPr>
            </a:pPr>
            <a:r>
              <a:t>⚙️ Algorithmic Implementation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HOW (Core Formula): </a:t>
            </a:r>
            <a:r>
              <a:rPr b="0" sz="1200">
                <a:solidFill>
                  <a:srgbClr val="5A7062"/>
                </a:solidFill>
              </a:rPr>
              <a:t>Net Profit = (Promoted Units * [Discounted Price - Cost]) - Cannibalization Loss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HOW (Pipeline / Math): </a:t>
            </a:r>
            <a:r>
              <a:rPr b="0" sz="1200">
                <a:solidFill>
                  <a:srgbClr val="5A7062"/>
                </a:solidFill>
              </a:rPr>
              <a:t>Uplift = Base Multiplier * (Discount % ^ Curve Exponent)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Real-World Example: </a:t>
            </a:r>
            <a:r>
              <a:rPr b="0" sz="1200">
                <a:solidFill>
                  <a:srgbClr val="5A7062"/>
                </a:solidFill>
              </a:rPr>
              <a:t>Summer Sale on Tops (Cost = ₹400): 25% Off increases sales +65% but causes ₹4,200 cannibalization loss (₹53,550 profit). Optimizer adjusts discount to 18% Off (₹64,200 max profit).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C8F6E"/>
                </a:solidFill>
              </a:defRPr>
            </a:pPr>
            <a:r>
              <a:t>DOMAIN 02: MERCHANDISING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352B"/>
                </a:solidFill>
              </a:defRPr>
            </a:pPr>
            <a:r>
              <a:t>8. Competitor Price Monitoring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8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C8F6E"/>
                </a:solidFill>
              </a:defRPr>
            </a:pPr>
            <a:r>
              <a:t>📌 Overview &amp; Business Value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WHAT (Core Concept): </a:t>
            </a:r>
            <a:r>
              <a:rPr b="0" sz="1200">
                <a:solidFill>
                  <a:srgbClr val="5A7062"/>
                </a:solidFill>
              </a:rPr>
              <a:t>Interquartile Range (IQR) &amp; Z-Score anomaly detection across external retailer catalog scrapers.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WHY (Business Value): </a:t>
            </a:r>
            <a:r>
              <a:rPr b="0" sz="1200">
                <a:solidFill>
                  <a:srgbClr val="5A7062"/>
                </a:solidFill>
              </a:rPr>
              <a:t>Detects uncompetitive price premiums or undercuts in real time to maintain market share.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A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08760"/>
            <a:ext cx="4937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C8F6E"/>
                </a:solidFill>
              </a:defRPr>
            </a:pPr>
            <a:r>
              <a:t>⚙️ Algorithmic Implementation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HOW (Core Formula): </a:t>
            </a:r>
            <a:r>
              <a:rPr b="0" sz="1200">
                <a:solidFill>
                  <a:srgbClr val="5A7062"/>
                </a:solidFill>
              </a:rPr>
              <a:t>Price Index = (Our Price / Competitor Average Price) * 100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HOW (Pipeline / Math): </a:t>
            </a:r>
            <a:r>
              <a:rPr b="0" sz="1200">
                <a:solidFill>
                  <a:srgbClr val="5A7062"/>
                </a:solidFill>
              </a:rPr>
              <a:t>Z-Score = (Our Price - Competitor Average) / Competitor Standard Deviation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Real-World Example: </a:t>
            </a:r>
            <a:r>
              <a:rPr b="0" sz="1200">
                <a:solidFill>
                  <a:srgbClr val="5A7062"/>
                </a:solidFill>
              </a:rPr>
              <a:t>Running Shoes P00044 priced at ₹4,500. Competitor average = ₹3,666 (Std Dev = ₹76). Z-Score = +10.97 (Overprice anomaly, Price Index = 122.7). System flags for price alignment.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C8F6E"/>
                </a:solidFill>
              </a:defRPr>
            </a:pPr>
            <a:r>
              <a:t>DOMAIN 03: OPERATIONAL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352B"/>
                </a:solidFill>
              </a:defRPr>
            </a:pPr>
            <a:r>
              <a:t>9. Smart Inventory Health Monitoring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8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C8F6E"/>
                </a:solidFill>
              </a:defRPr>
            </a:pPr>
            <a:r>
              <a:t>📌 Overview &amp; Business Value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WHAT (Core Concept): </a:t>
            </a:r>
            <a:r>
              <a:rPr b="0" sz="1200">
                <a:solidFill>
                  <a:srgbClr val="5A7062"/>
                </a:solidFill>
              </a:rPr>
              <a:t>Composite Inventory Risk Scoring (0 to 100) combining Days of Supply, Stockout Risk, &amp; ABC/XYZ matrices.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WHY (Business Value): </a:t>
            </a:r>
            <a:r>
              <a:rPr b="0" sz="1200">
                <a:solidFill>
                  <a:srgbClr val="5A7062"/>
                </a:solidFill>
              </a:rPr>
              <a:t>Gives supply chain managers real-time visibility into high-risk SKUs requiring immediate reordering or markdown.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A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08760"/>
            <a:ext cx="4937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C8F6E"/>
                </a:solidFill>
              </a:defRPr>
            </a:pPr>
            <a:r>
              <a:t>⚙️ Algorithmic Implementation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HOW (Core Formula): </a:t>
            </a:r>
            <a:r>
              <a:rPr b="0" sz="1200">
                <a:solidFill>
                  <a:srgbClr val="5A7062"/>
                </a:solidFill>
              </a:rPr>
              <a:t>Days of Supply = Current Stock / Daily Demand Rate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HOW (Pipeline / Math): </a:t>
            </a:r>
            <a:r>
              <a:rPr b="0" sz="1200">
                <a:solidFill>
                  <a:srgbClr val="5A7062"/>
                </a:solidFill>
              </a:rPr>
              <a:t>Health Score = 100 - [ (0.45 * Stockout Risk) + (0.35 * Overstock Risk) + (0.20 * Expiry Risk) ] * 100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Real-World Example: </a:t>
            </a:r>
            <a:r>
              <a:rPr b="0" sz="1200">
                <a:solidFill>
                  <a:srgbClr val="5A7062"/>
                </a:solidFill>
              </a:rPr>
              <a:t>SKU P00088 has 12 units in stock and daily demand of 4 units/day (3.0 Days of Supply vs 5 days lead time). Stockout Risk = 0.88. Inventory Health Score = 60.4/100 (Critical Alert).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C8F6E"/>
                </a:solidFill>
              </a:defRPr>
            </a:pPr>
            <a:r>
              <a:t>DOMAIN 03: OPERATIONAL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352B"/>
                </a:solidFill>
              </a:defRPr>
            </a:pPr>
            <a:r>
              <a:t>10. Automated Replenishment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8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C8F6E"/>
                </a:solidFill>
              </a:defRPr>
            </a:pPr>
            <a:r>
              <a:t>📌 Overview &amp; Business Value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WHAT (Core Concept): </a:t>
            </a:r>
            <a:r>
              <a:rPr b="0" sz="1200">
                <a:solidFill>
                  <a:srgbClr val="5A7062"/>
                </a:solidFill>
              </a:rPr>
              <a:t>Dynamic Safety Stock &amp; Reorder Point (ROP) calculation under (s, S) continuous review policy.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WHY (Business Value): </a:t>
            </a:r>
            <a:r>
              <a:rPr b="0" sz="1200">
                <a:solidFill>
                  <a:srgbClr val="5A7062"/>
                </a:solidFill>
              </a:rPr>
              <a:t>Automates purchase order generation, preventing stock-outs while maintaining optimal working capital.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A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08760"/>
            <a:ext cx="4937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C8F6E"/>
                </a:solidFill>
              </a:defRPr>
            </a:pPr>
            <a:r>
              <a:t>⚙️ Algorithmic Implementation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HOW (Core Formula): </a:t>
            </a:r>
            <a:r>
              <a:rPr b="0" sz="1200">
                <a:solidFill>
                  <a:srgbClr val="5A7062"/>
                </a:solidFill>
              </a:rPr>
              <a:t>Safety Stock = Service_Z_Factor * Sqrt( [Lead Time * Demand Variance^2] + [Demand^2 * Lead Time Variance^2] )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HOW (Pipeline / Math): </a:t>
            </a:r>
            <a:r>
              <a:rPr b="0" sz="1200">
                <a:solidFill>
                  <a:srgbClr val="5A7062"/>
                </a:solidFill>
              </a:rPr>
              <a:t>Reorder Point (ROP) = (Daily Demand * Lead Time) + Safety Stock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Real-World Example: </a:t>
            </a:r>
            <a:r>
              <a:rPr b="0" sz="1200">
                <a:solidFill>
                  <a:srgbClr val="5A7062"/>
                </a:solidFill>
              </a:rPr>
              <a:t>Product P00005 (Daily Sales = 25, Lead Time = 6 days, 95% Service Level). Safety Stock = 45 units. ROP = 195 units. Current Stock = 140 units. System triggers PO for 160 units.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C8F6E"/>
                </a:solidFill>
              </a:defRPr>
            </a:pPr>
            <a:r>
              <a:t>DOMAIN 03: OPERATIONAL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352B"/>
                </a:solidFill>
              </a:defRPr>
            </a:pPr>
            <a:r>
              <a:t>11. Warehouse Slotting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8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C8F6E"/>
                </a:solidFill>
              </a:defRPr>
            </a:pPr>
            <a:r>
              <a:t>📌 Overview &amp; Business Value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WHAT (Core Concept): </a:t>
            </a:r>
            <a:r>
              <a:rPr b="0" sz="1200">
                <a:solidFill>
                  <a:srgbClr val="5A7062"/>
                </a:solidFill>
              </a:rPr>
              <a:t>Co-location pick frequency velocity clustering mapping Class A items close to dispatch docks.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WHY (Business Value): </a:t>
            </a:r>
            <a:r>
              <a:rPr b="0" sz="1200">
                <a:solidFill>
                  <a:srgbClr val="5A7062"/>
                </a:solidFill>
              </a:rPr>
              <a:t>Reduces warehouse picker walking distance by up to 70%, accelerating order packing turnaround.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A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08760"/>
            <a:ext cx="4937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C8F6E"/>
                </a:solidFill>
              </a:defRPr>
            </a:pPr>
            <a:r>
              <a:t>⚙️ Algorithmic Implementation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HOW (Core Formula): </a:t>
            </a:r>
            <a:r>
              <a:rPr b="0" sz="1200">
                <a:solidFill>
                  <a:srgbClr val="5A7062"/>
                </a:solidFill>
              </a:rPr>
              <a:t>Pick Velocity = Sum( Quantity Picked across All Orders )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HOW (Pipeline / Math): </a:t>
            </a:r>
            <a:r>
              <a:rPr b="0" sz="1200">
                <a:solidFill>
                  <a:srgbClr val="5A7062"/>
                </a:solidFill>
              </a:rPr>
              <a:t>Total Distance Objective = Min Sum( Monthly Picks * Distance from Slot to Shipping Dock )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Real-World Example: </a:t>
            </a:r>
            <a:r>
              <a:rPr b="0" sz="1200">
                <a:solidFill>
                  <a:srgbClr val="5A7062"/>
                </a:solidFill>
              </a:rPr>
              <a:t>Stockholm Warehouse W002: Class A item P00012 (1,420 picks/month) currently in Zone C (85m from dock). Optimized move to Zone A (12m from dock) saves 103.6 km picker walking/month.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C8F6E"/>
                </a:solidFill>
              </a:defRPr>
            </a:pPr>
            <a:r>
              <a:t>DOMAIN 03: OPERATIONAL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352B"/>
                </a:solidFill>
              </a:defRPr>
            </a:pPr>
            <a:r>
              <a:t>12. Logistics, Route &amp; Fleet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8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C8F6E"/>
                </a:solidFill>
              </a:defRPr>
            </a:pPr>
            <a:r>
              <a:t>📌 Overview &amp; Business Value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WHAT (Core Concept): </a:t>
            </a:r>
            <a:r>
              <a:rPr b="0" sz="1200">
                <a:solidFill>
                  <a:srgbClr val="5A7062"/>
                </a:solidFill>
              </a:rPr>
              <a:t>Vehicle Routing Problem with Time Windows (VRPTW) solved via Haversine distance &amp; 2-Opt local search.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WHY (Business Value): </a:t>
            </a:r>
            <a:r>
              <a:rPr b="0" sz="1200">
                <a:solidFill>
                  <a:srgbClr val="5A7062"/>
                </a:solidFill>
              </a:rPr>
              <a:t>Minimizes delivery fleet transport mileage, fuel costs, and carbon emissions for store delivery runs.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A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08760"/>
            <a:ext cx="4937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C8F6E"/>
                </a:solidFill>
              </a:defRPr>
            </a:pPr>
            <a:r>
              <a:t>⚙️ Algorithmic Implementation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HOW (Core Formula): </a:t>
            </a:r>
            <a:r>
              <a:rPr b="0" sz="1200">
                <a:solidFill>
                  <a:srgbClr val="5A7062"/>
                </a:solidFill>
              </a:rPr>
              <a:t>Haversine Distance = Geodesic GPS Distance between Warehouse &amp; Stores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HOW (Pipeline / Math): </a:t>
            </a:r>
            <a:r>
              <a:rPr b="0" sz="1200">
                <a:solidFill>
                  <a:srgbClr val="5A7062"/>
                </a:solidFill>
              </a:rPr>
              <a:t>2-Opt Edge Swap = Swap Route Segment if Distance(A-&gt;C) + Distance(B-&gt;D) &lt; Distance(A-&gt;B) + Distance(C-&gt;D)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Real-World Example: </a:t>
            </a:r>
            <a:r>
              <a:rPr b="0" sz="1200">
                <a:solidFill>
                  <a:srgbClr val="5A7062"/>
                </a:solidFill>
              </a:rPr>
              <a:t>Stockholm Distribution Hub W002 delivering to 7 stores. Initial unoptimized route = 3,637 km. 2-Opt route optimization restructures path to 3,361 km (276 km fuel saved, -7.6% transport cost).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C8F6E"/>
                </a:solidFill>
              </a:defRPr>
            </a:pPr>
            <a:r>
              <a:t>DOMAIN 04: CUSTOMER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352B"/>
                </a:solidFill>
              </a:defRPr>
            </a:pPr>
            <a:r>
              <a:t>13. 24x7 AI Chatbots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8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C8F6E"/>
                </a:solidFill>
              </a:defRPr>
            </a:pPr>
            <a:r>
              <a:t>📌 Overview &amp; Business Value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WHAT (Core Concept): </a:t>
            </a:r>
            <a:r>
              <a:rPr b="0" sz="1200">
                <a:solidFill>
                  <a:srgbClr val="5A7062"/>
                </a:solidFill>
              </a:rPr>
              <a:t>Multi-turn conversational state machine integrated with database order lookup &amp; LLM fallback.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WHY (Business Value): </a:t>
            </a:r>
            <a:r>
              <a:rPr b="0" sz="1200">
                <a:solidFill>
                  <a:srgbClr val="5A7062"/>
                </a:solidFill>
              </a:rPr>
              <a:t>Provides instant 24x7 order tracking and returns resolution, deflecting support ticket volume.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A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08760"/>
            <a:ext cx="4937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C8F6E"/>
                </a:solidFill>
              </a:defRPr>
            </a:pPr>
            <a:r>
              <a:t>⚙️ Algorithmic Implementation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HOW (Core Formula): </a:t>
            </a:r>
            <a:r>
              <a:rPr b="0" sz="1200">
                <a:solidFill>
                  <a:srgbClr val="5A7062"/>
                </a:solidFill>
              </a:rPr>
              <a:t>State Machine = (Intent Recognition, Order Entity Extraction, Live DB Query)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HOW (Pipeline / Math): </a:t>
            </a:r>
            <a:r>
              <a:rPr b="0" sz="1200">
                <a:solidFill>
                  <a:srgbClr val="5A7062"/>
                </a:solidFill>
              </a:rPr>
              <a:t>Intent Match Confidence = Softmax Probability over Intent Classification Space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Real-World Example: </a:t>
            </a:r>
            <a:r>
              <a:rPr b="0" sz="1200">
                <a:solidFill>
                  <a:srgbClr val="5A7062"/>
                </a:solidFill>
              </a:rPr>
              <a:t>Customer Query 'Where is my order ORD99281?'. Bot extracts Order ID ORD99281, queries database (Shipped via Express, Tracking #TRK8821), and generates instant 24x7 response.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C8F6E"/>
                </a:solidFill>
              </a:defRPr>
            </a:pPr>
            <a:r>
              <a:t>DOMAIN 04: CUSTOMER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352B"/>
                </a:solidFill>
              </a:defRPr>
            </a:pPr>
            <a:r>
              <a:t>14. Intelligent Ticket Triage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8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C8F6E"/>
                </a:solidFill>
              </a:defRPr>
            </a:pPr>
            <a:r>
              <a:t>📌 Overview &amp; Business Value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WHAT (Core Concept): </a:t>
            </a:r>
            <a:r>
              <a:rPr b="0" sz="1200">
                <a:solidFill>
                  <a:srgbClr val="5A7062"/>
                </a:solidFill>
              </a:rPr>
              <a:t>Multi-class text classification &amp; sentiment analysis routing tickets to specialized agent queues.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WHY (Business Value): </a:t>
            </a:r>
            <a:r>
              <a:rPr b="0" sz="1200">
                <a:solidFill>
                  <a:srgbClr val="5A7062"/>
                </a:solidFill>
              </a:rPr>
              <a:t>Ensures urgent customer complaints (damaged goods, missing refunds) are prioritized immediately.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A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08760"/>
            <a:ext cx="4937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C8F6E"/>
                </a:solidFill>
              </a:defRPr>
            </a:pPr>
            <a:r>
              <a:t>⚙️ Algorithmic Implementation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HOW (Core Formula): </a:t>
            </a:r>
            <a:r>
              <a:rPr b="0" sz="1200">
                <a:solidFill>
                  <a:srgbClr val="5A7062"/>
                </a:solidFill>
              </a:rPr>
              <a:t>Urgency Score = (0.40 * Negative Sentiment) + (0.30 * Urgent Keyword Flag) + (0.30 * VIP Flag)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HOW (Pipeline / Math): </a:t>
            </a:r>
            <a:r>
              <a:rPr b="0" sz="1200">
                <a:solidFill>
                  <a:srgbClr val="5A7062"/>
                </a:solidFill>
              </a:rPr>
              <a:t>Classification = Multi-Class Intent Classifier over Subject &amp; Body Text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Real-World Example: </a:t>
            </a:r>
            <a:r>
              <a:rPr b="0" sz="1200">
                <a:solidFill>
                  <a:srgbClr val="5A7062"/>
                </a:solidFill>
              </a:rPr>
              <a:t>Ticket 'Parcel arrived damaged, box torn and jacket missing. Want immediate refund!'. Sentiment = -0.85. Urgency Score = 0.94/1.0 (HIGH Priority). Automatically routed to Claims Escalation Queue.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C8F6E"/>
                </a:solidFill>
              </a:defRPr>
            </a:pPr>
            <a:r>
              <a:t>DOMAIN 04: CUSTOMER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352B"/>
                </a:solidFill>
              </a:defRPr>
            </a:pPr>
            <a:r>
              <a:t>15. Agent Assist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8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C8F6E"/>
                </a:solidFill>
              </a:defRPr>
            </a:pPr>
            <a:r>
              <a:t>📌 Overview &amp; Business Value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WHAT (Core Concept): </a:t>
            </a:r>
            <a:r>
              <a:rPr b="0" sz="1200">
                <a:solidFill>
                  <a:srgbClr val="5A7062"/>
                </a:solidFill>
              </a:rPr>
              <a:t>Real-time BM25 search &amp; vector similarity policy lookup across standard operating procedures (SOPs).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WHY (Business Value): </a:t>
            </a:r>
            <a:r>
              <a:rPr b="0" sz="1200">
                <a:solidFill>
                  <a:srgbClr val="5A7062"/>
                </a:solidFill>
              </a:rPr>
              <a:t>Empowers human support agents during live calls with instant verified answer templates.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A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08760"/>
            <a:ext cx="4937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C8F6E"/>
                </a:solidFill>
              </a:defRPr>
            </a:pPr>
            <a:r>
              <a:t>⚙️ Algorithmic Implementation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HOW (Core Formula): </a:t>
            </a:r>
            <a:r>
              <a:rPr b="0" sz="1200">
                <a:solidFill>
                  <a:srgbClr val="5A7062"/>
                </a:solidFill>
              </a:rPr>
              <a:t>BM25 Score = Sum( Word Rarity * [ Word Frequency / (Word Frequency + Length Penalty) ] )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HOW (Pipeline / Math): </a:t>
            </a:r>
            <a:r>
              <a:rPr b="0" sz="1200">
                <a:solidFill>
                  <a:srgbClr val="5A7062"/>
                </a:solidFill>
              </a:rPr>
              <a:t>SOP Retrieval = Best Matched Historical Ticket &amp; Policy Guideline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Real-World Example: </a:t>
            </a:r>
            <a:r>
              <a:rPr b="0" sz="1200">
                <a:solidFill>
                  <a:srgbClr val="5A7062"/>
                </a:solidFill>
              </a:rPr>
              <a:t>Support Query 'What is return policy for worn footwear?'. BM25 search retrieves SOP Section 4.2 (Relevance Score = 14.8). System auto-fills template for agent: 'Footwear returnable in 30 days...'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C8F6E"/>
                </a:solidFill>
              </a:defRPr>
            </a:pPr>
            <a:r>
              <a:t>DOMAIN 04: CUSTOMER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352B"/>
                </a:solidFill>
              </a:defRPr>
            </a:pPr>
            <a:r>
              <a:t>16. Voice of Customer (VoC) Aspect Mining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8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C8F6E"/>
                </a:solidFill>
              </a:defRPr>
            </a:pPr>
            <a:r>
              <a:t>📌 Overview &amp; Business Value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WHAT (Core Concept): </a:t>
            </a:r>
            <a:r>
              <a:rPr b="0" sz="1200">
                <a:solidFill>
                  <a:srgbClr val="5A7062"/>
                </a:solidFill>
              </a:rPr>
              <a:t>Aspect-Based Sentiment Analysis (ABSA) mining customer reviews for specific product feedback.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WHY (Business Value): </a:t>
            </a:r>
            <a:r>
              <a:rPr b="0" sz="1200">
                <a:solidFill>
                  <a:srgbClr val="5A7062"/>
                </a:solidFill>
              </a:rPr>
              <a:t>Provides product engineering &amp; sourcing teams with granular quality defect alerts.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A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08760"/>
            <a:ext cx="4937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C8F6E"/>
                </a:solidFill>
              </a:defRPr>
            </a:pPr>
            <a:r>
              <a:t>⚙️ Algorithmic Implementation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HOW (Core Formula): </a:t>
            </a:r>
            <a:r>
              <a:rPr b="0" sz="1200">
                <a:solidFill>
                  <a:srgbClr val="5A7062"/>
                </a:solidFill>
              </a:rPr>
              <a:t>Net Aspect Polarity = (Positive Mentions - Negative Mentions) / Total Mentions for Aspect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HOW (Pipeline / Math): </a:t>
            </a:r>
            <a:r>
              <a:rPr b="0" sz="1200">
                <a:solidFill>
                  <a:srgbClr val="5A7062"/>
                </a:solidFill>
              </a:rPr>
              <a:t>Aspect Extraction = Target Feature Keyword Mining (Fit, Fabric, Zipper, Durability)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Real-World Example: </a:t>
            </a:r>
            <a:r>
              <a:rPr b="0" sz="1200">
                <a:solidFill>
                  <a:srgbClr val="5A7062"/>
                </a:solidFill>
              </a:rPr>
              <a:t>1,250 reviews for Dresses category: Aspect 'Fit' = +0.68 Net Score (Positive). Aspect 'Zipper' = -0.73 Net Score (Negative Defect Alert). Generates quality alert to replace zipper vendor.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C8F6E"/>
                </a:solidFill>
              </a:defRPr>
            </a:pPr>
            <a:r>
              <a:t>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352B"/>
                </a:solidFill>
              </a:defRPr>
            </a:pPr>
            <a:r>
              <a:t>Automated Testing &amp; Empirical Verification Benchmarks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8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C8F6E"/>
                </a:solidFill>
              </a:defRPr>
            </a:pPr>
            <a:r>
              <a:t>🧪 Automated Pytest Suite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Test File: </a:t>
            </a:r>
            <a:r>
              <a:rPr b="0" sz="1200">
                <a:solidFill>
                  <a:srgbClr val="5A7062"/>
                </a:solidFill>
              </a:rPr>
              <a:t>tests/test_capabilities.py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Test Execution: </a:t>
            </a:r>
            <a:r>
              <a:rPr b="0" sz="1200">
                <a:solidFill>
                  <a:srgbClr val="5A7062"/>
                </a:solidFill>
              </a:rPr>
              <a:t>32 automated unit &amp; integration test cases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Pass Rate: </a:t>
            </a:r>
            <a:r>
              <a:rPr b="0" sz="1200">
                <a:solidFill>
                  <a:srgbClr val="5A7062"/>
                </a:solidFill>
              </a:rPr>
              <a:t>100% Passed (32 / 32 Passed in 24 seconds)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Coverage: </a:t>
            </a:r>
            <a:r>
              <a:rPr b="0" sz="1200">
                <a:solidFill>
                  <a:srgbClr val="5A7062"/>
                </a:solidFill>
              </a:rPr>
              <a:t>Validates state lazy-loading, data return structures, and memory release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7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C8F6E"/>
                </a:solidFill>
              </a:defRPr>
            </a:pPr>
            <a:r>
              <a:t>⚡ Runtime Performance Metrics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Response Latency: </a:t>
            </a:r>
            <a:r>
              <a:rPr b="0" sz="1200">
                <a:solidFill>
                  <a:srgbClr val="5A7062"/>
                </a:solidFill>
              </a:rPr>
              <a:t>Sub-100ms API response time across capabilities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Memory Footprint: </a:t>
            </a:r>
            <a:r>
              <a:rPr b="0" sz="1200">
                <a:solidFill>
                  <a:srgbClr val="5A7062"/>
                </a:solidFill>
              </a:rPr>
              <a:t>Bounded under 1 GB RAM (CALRETAIL_TABLE_CACHE=2)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Data Precision: </a:t>
            </a:r>
            <a:r>
              <a:rPr b="0" sz="1200">
                <a:solidFill>
                  <a:srgbClr val="5A7062"/>
                </a:solidFill>
              </a:rPr>
              <a:t>Exact mathematical algorithms (XGBoost, Cosine Sim, KDE, Elasticity)</a:t>
            </a:r>
          </a:p>
          <a:p>
            <a:pPr>
              <a:spcAft>
                <a:spcPts val="800"/>
              </a:spcAft>
              <a:defRPr b="1" sz="1200">
                <a:solidFill>
                  <a:srgbClr val="25352B"/>
                </a:solidFill>
              </a:defRPr>
            </a:pPr>
            <a:r>
              <a:t>• Fault Tolerance: </a:t>
            </a:r>
            <a:r>
              <a:rPr b="0" sz="1200">
                <a:solidFill>
                  <a:srgbClr val="5A7062"/>
                </a:solidFill>
              </a:rPr>
              <a:t>Automatic fallback to bestseller popularities and deterministic rules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82AE8F"/>
                </a:solidFill>
              </a:defRPr>
            </a:pPr>
            <a:r>
              <a:t>PRODUCTION DEPLOYMENT &amp; DEPOPS SPECIFICATIONS</a:t>
            </a:r>
          </a:p>
          <a:p>
            <a:pPr>
              <a:spcAft>
                <a:spcPts val="1800"/>
              </a:spcAft>
              <a:defRPr sz="2800" b="1">
                <a:solidFill>
                  <a:srgbClr val="FFFFFF"/>
                </a:solidFill>
              </a:defRPr>
            </a:pPr>
            <a:r>
              <a:t>Live Industrial Infrastructure on AWS EC2</a:t>
            </a:r>
          </a:p>
          <a:p>
            <a:pPr>
              <a:spcAft>
                <a:spcPts val="1000"/>
              </a:spcAft>
              <a:defRPr b="1" sz="1400">
                <a:solidFill>
                  <a:srgbClr val="82AE8F"/>
                </a:solidFill>
              </a:defRPr>
            </a:pPr>
            <a:r>
              <a:t>• Cloud Platform: </a:t>
            </a:r>
            <a:r>
              <a:rPr b="0" sz="1400">
                <a:solidFill>
                  <a:srgbClr val="FFFFFF"/>
                </a:solidFill>
              </a:rPr>
              <a:t>AWS EC2 Ubuntu 24.04 LTS (eu-north-1 Stockholm Region)</a:t>
            </a:r>
          </a:p>
          <a:p>
            <a:pPr>
              <a:spcAft>
                <a:spcPts val="1000"/>
              </a:spcAft>
              <a:defRPr b="1" sz="1400">
                <a:solidFill>
                  <a:srgbClr val="82AE8F"/>
                </a:solidFill>
              </a:defRPr>
            </a:pPr>
            <a:r>
              <a:t>• Instance Hardware: </a:t>
            </a:r>
            <a:r>
              <a:rPr b="0" sz="1400">
                <a:solidFill>
                  <a:srgbClr val="FFFFFF"/>
                </a:solidFill>
              </a:rPr>
              <a:t>t3.small instance (2 GB RAM, 2 VCPUs) with 2 GB Swap virtual memory protection</a:t>
            </a:r>
          </a:p>
          <a:p>
            <a:pPr>
              <a:spcAft>
                <a:spcPts val="1000"/>
              </a:spcAft>
              <a:defRPr b="1" sz="1400">
                <a:solidFill>
                  <a:srgbClr val="82AE8F"/>
                </a:solidFill>
              </a:defRPr>
            </a:pPr>
            <a:r>
              <a:t>• Containerization: </a:t>
            </a:r>
            <a:r>
              <a:rPr b="0" sz="1400">
                <a:solidFill>
                  <a:srgbClr val="FFFFFF"/>
                </a:solidFill>
              </a:rPr>
              <a:t>Docker multi-stage container (python:3.11-slim, OpenMP libgomp1)</a:t>
            </a:r>
          </a:p>
          <a:p>
            <a:pPr>
              <a:spcAft>
                <a:spcPts val="1000"/>
              </a:spcAft>
              <a:defRPr b="1" sz="1400">
                <a:solidFill>
                  <a:srgbClr val="82AE8F"/>
                </a:solidFill>
              </a:defRPr>
            </a:pPr>
            <a:r>
              <a:t>• Process Supervision: </a:t>
            </a:r>
            <a:r>
              <a:rPr b="0" sz="1400">
                <a:solidFill>
                  <a:srgbClr val="FFFFFF"/>
                </a:solidFill>
              </a:rPr>
              <a:t>Automatic uvicorn watchdog restart loop inside start.sh</a:t>
            </a:r>
          </a:p>
          <a:p>
            <a:pPr>
              <a:spcAft>
                <a:spcPts val="1000"/>
              </a:spcAft>
              <a:defRPr b="1" sz="1400">
                <a:solidFill>
                  <a:srgbClr val="82AE8F"/>
                </a:solidFill>
              </a:defRPr>
            </a:pPr>
            <a:r>
              <a:t>• Live Web Console: </a:t>
            </a:r>
            <a:r>
              <a:rPr b="0" sz="1400">
                <a:solidFill>
                  <a:srgbClr val="FFFFFF"/>
                </a:solidFill>
              </a:rPr>
              <a:t>http://13.50.101.137 (Dash Port 7860 routed to Port 80)</a:t>
            </a:r>
          </a:p>
          <a:p>
            <a:pPr>
              <a:spcAft>
                <a:spcPts val="1000"/>
              </a:spcAft>
              <a:defRPr b="1" sz="1400">
                <a:solidFill>
                  <a:srgbClr val="82AE8F"/>
                </a:solidFill>
              </a:defRPr>
            </a:pPr>
            <a:r>
              <a:t>• GitHub Repository: </a:t>
            </a:r>
            <a:r>
              <a:rPr b="0" sz="1400">
                <a:solidFill>
                  <a:srgbClr val="FFFFFF"/>
                </a:solidFill>
              </a:rPr>
              <a:t>https://github.com/calritik/Calretail_.git (Main Branch)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